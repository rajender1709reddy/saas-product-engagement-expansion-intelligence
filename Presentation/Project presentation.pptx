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1478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Analytics Project
Rajender Mucherla
Technologies:
Excel | MySQL | SQL | Python | Pandas | Power BI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raw SaaS data into an interactive business intelligence dashboard that supports faster and data-driven decision-making.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 an end-to-end analytics solution that transforms raw SaaS data into meaningful KPIs, trends, customer insights, and actionable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Approach
Clean → Validate → Analyze → Visualize → Interpret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provides:
Executive-level KPI monitoring
Subscription trend analysis
Customer segmentation
Regional and plan-level analysis
Product engagement analysis
Interactive filtering
Business insights and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features connect business performance, subscription behavior, customer analysis, and actionable insights in a single interactive SaaS analytics solution.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transforms raw SaaS data into structured, interactive, and business-ready insights for decision-making.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integrates customer and operational information to provide a unified view of SaaS business performance and customer engagement.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ensures that the dashboard is built on cleaned, validated, and business-ready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technology was used for a specific stage of the analytics workflow, from data preparation and analysis to interactive business intelligence reporting.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connects data preparation, analytical processing, visualization, and business decision-making in one end-to-end SaaS analytics solution.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transformed raw SaaS customer and subscription data into a centralized business intelligence dashboard, providing clear visibility into business performance, subscription trends, customer segments, and product engagement.
Key Outcomes
Centralized monitoring of 6 key business KPIs.
Interactive analysis using Region and Plan Category filters.
Clear visibility into subscription and payment trends.
Improved understanding of customer segments and feature adoption.
Identification of regional, pricing, and engagement opportunities.
Business insights converted into actionable recommendations.
The dashboard enables stakeholders to move from raw data to clear business insights and make more informed, data-driven decisions.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phase will focus on moving from descriptive analytics toward predictive and real-time decision support for SaaS business growth.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Questions &amp; Discussion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2377440"/>
            <a:ext cx="10972800" cy="1280160"/>
          </a:xfrm>
          <a:prstGeom prst="rect">
            <a:avLst/>
          </a:prstGeom>
          <a:noFill/>
          <a:ln/>
        </p:spPr>
        <p:txBody>
          <a:bodyPr wrap="square" rtlCol="0" anchor="ctr"/>
          <a:lstStyle/>
          <a:p>
            <a:pPr marL="0" indent="0">
              <a:buNone/>
            </a:pPr>
            <a:r>
              <a:rPr lang="en-US" sz="4800" b="1" dirty="0">
                <a:solidFill>
                  <a:srgbClr val="0A1A3F"/>
                </a:solidFill>
                <a:latin typeface="Calibri" pitchFamily="34" charset="0"/>
                <a:ea typeface="Calibri" pitchFamily="34" charset="-122"/>
                <a:cs typeface="Calibri" pitchFamily="34" charset="-120"/>
              </a:rPr>
              <a:t>SaaS Product Engagement &amp; Expansion Intelligence</a:t>
            </a:r>
            <a:endParaRPr lang="en-US" sz="4800" dirty="0"/>
          </a:p>
        </p:txBody>
      </p:sp>
      <p:sp>
        <p:nvSpPr>
          <p:cNvPr id="5" name="Text 3"/>
          <p:cNvSpPr/>
          <p:nvPr/>
        </p:nvSpPr>
        <p:spPr>
          <a:xfrm>
            <a:off x="548640" y="3657600"/>
            <a:ext cx="10972800" cy="731520"/>
          </a:xfrm>
          <a:prstGeom prst="rect">
            <a:avLst/>
          </a:prstGeom>
          <a:noFill/>
          <a:ln/>
        </p:spPr>
        <p:txBody>
          <a:bodyPr wrap="square" rtlCol="0" anchor="ctr"/>
          <a:lstStyle/>
          <a:p>
            <a:pPr marL="0" indent="0">
              <a:buNone/>
            </a:pPr>
            <a:r>
              <a:rPr lang="en-US" sz="2200" dirty="0">
                <a:solidFill>
                  <a:srgbClr val="0F172A"/>
                </a:solidFill>
                <a:latin typeface="Calibri" pitchFamily="34" charset="0"/>
                <a:ea typeface="Calibri" pitchFamily="34" charset="-122"/>
                <a:cs typeface="Calibri" pitchFamily="34" charset="-120"/>
              </a:rPr>
              <a:t>Transforming SaaS Customer &amp; Subscription Data into Actionable Business Insights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Business Problem</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a:spcAft>
                <a:spcPts val="800"/>
              </a:spcAft>
              <a:buSzPct val="100000"/>
            </a:pPr>
            <a:r>
              <a:rPr lang="en-US" sz="1800" dirty="0">
                <a:solidFill>
                  <a:srgbClr val="0F172A"/>
                </a:solidFill>
                <a:latin typeface="Calibri" pitchFamily="34" charset="0"/>
                <a:ea typeface="Calibri" pitchFamily="34" charset="-122"/>
                <a:cs typeface="Calibri" pitchFamily="34" charset="-120"/>
              </a:rPr>
              <a:t>SaaS businesses generate customer, subscription, operational, billing, and engagement data. However, raw data does not provide a simple view of overall business performance.</a:t>
            </a:r>
          </a:p>
          <a:p>
            <a:pPr>
              <a:spcAft>
                <a:spcPts val="800"/>
              </a:spcAft>
              <a:buSzPct val="100000"/>
            </a:pP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project focuses on analyzing this data to understand revenue, customers, subscriptions, payments, discounts, tax, customer segments, subscription trends, and product engagement through a centralized dashboard.</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Key Business Needs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Monitor overall SaaS performance.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Understand subscription trends.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Analyze customer segments.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Compare regional performance.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Understand product and feature engagement.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Problem Statement</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available SaaS datasets contain customer, subscription, operational, pricing, and engagement information across multiple datasets.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However:</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requires cleaning and standardization before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Different datasets need to be understood and prepared for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Business KPIs are not directly available from raw data.</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and subscription patterns are difficult to identify from raw tables.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Business stakeholders need a simple visual interface for decision-making.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Existing Challenges</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a:spcAft>
                <a:spcPts val="800"/>
              </a:spcAft>
              <a:buSzPct val="100000"/>
            </a:pPr>
            <a:r>
              <a:rPr lang="en-US" sz="1800" dirty="0">
                <a:solidFill>
                  <a:srgbClr val="0F172A"/>
                </a:solidFill>
                <a:latin typeface="Calibri" pitchFamily="34" charset="0"/>
                <a:ea typeface="Calibri" pitchFamily="34" charset="-122"/>
                <a:cs typeface="Calibri" pitchFamily="34" charset="-120"/>
              </a:rPr>
              <a:t>Data &amp; Analytical Challenges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Before developing the dashboard, several data and analytical challenges had to be addressed.</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Missing values required appropriate handling.</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Duplicate records required validation.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types needed to be standardized.</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Categorical values required consistent formatting.</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Multiple datasets and business dimensions needed to be analyzed together.</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Raw data did not directly provide the required business KPIs.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Dashboard visuals had to provide different insights without unnecessary repetition.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Payment Status was excluded from KPIs and charts to keep the analysis focused on relevant business performance.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Available customer data is primarily B2B, limiting B2B versus B2C comparison.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Proposed Solution: SaaS Business Performance Analysis Dashboard</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project provides an interactive Power BI dashboard that converts cleaned SaaS data into business-focused insights.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Solution Components : </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1. Data Preparation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Clean and validate raw datasets.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2. SQL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Create structured queries and calculate business metrics.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3. Python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Perform exploratory analysis and identify patterns.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4. Power BI Dashboard</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Build interactive KPIs, charts, slicers, and bookmark navigation.</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5. Business Insights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Convert analytical findings into recommendations.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Key Features</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KPI Monitoring: Tracks revenue, customers, subscriptions, payments, discounts, and tax.</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Subscription Analysis: Analyzes subscription and payment trends over time.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Segmentation: Compares customer groups, company size, and engagement.</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Interactive Dashboard: Uses slicers and bookmarks for easy navigation.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Business Insights: Provides actionable insights and recommendations.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A centralized dashboard for SaaS performance, customer analysis, and business decision-making.</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System Architecture</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System Architecture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Source : </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CSV datasets containing customer and product-operation information.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Preparation: </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Excel and Python were used for cleaning, validation, and preparation.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Analysis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MySQL and SQL were used for structured querying, aggregation, and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Exploratory Analysis</a:t>
            </a:r>
            <a:endParaRPr lang="en-US" sz="1800" dirty="0"/>
          </a:p>
          <a:p>
            <a:pPr>
              <a:spcAft>
                <a:spcPts val="800"/>
              </a:spcAft>
              <a:buSzPct val="100000"/>
            </a:pPr>
            <a:r>
              <a:rPr lang="en-US" dirty="0">
                <a:solidFill>
                  <a:srgbClr val="0F172A"/>
                </a:solidFill>
                <a:latin typeface="Calibri" pitchFamily="34" charset="0"/>
                <a:ea typeface="Calibri" pitchFamily="34" charset="-122"/>
                <a:cs typeface="Calibri" pitchFamily="34" charset="-120"/>
              </a:rPr>
              <a:t>       </a:t>
            </a:r>
            <a:r>
              <a:rPr lang="en-US" sz="1800" dirty="0">
                <a:solidFill>
                  <a:srgbClr val="0F172A"/>
                </a:solidFill>
                <a:latin typeface="Calibri" pitchFamily="34" charset="0"/>
                <a:ea typeface="Calibri" pitchFamily="34" charset="-122"/>
                <a:cs typeface="Calibri" pitchFamily="34" charset="-120"/>
              </a:rPr>
              <a:t>Python and Pandas were used for exploratory data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Visualization</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Power BI was used to create KPIs, charts, slicers, bookmarks, and business insights.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Flow</a:t>
            </a:r>
            <a:r>
              <a:rPr lang="en-US" dirty="0"/>
              <a:t>   </a:t>
            </a:r>
            <a:r>
              <a:rPr lang="en-US" sz="1800" dirty="0">
                <a:solidFill>
                  <a:srgbClr val="0F172A"/>
                </a:solidFill>
                <a:latin typeface="Calibri" pitchFamily="34" charset="0"/>
                <a:ea typeface="Calibri" pitchFamily="34" charset="-122"/>
                <a:cs typeface="Calibri" pitchFamily="34" charset="-120"/>
              </a:rPr>
              <a:t>CSV Data → Cleaning → SQL Analysis → Python EDA → Power BI Dashboard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Database Design</a:t>
            </a:r>
            <a:endParaRPr lang="en-US" sz="2800" dirty="0"/>
          </a:p>
        </p:txBody>
      </p:sp>
      <p:sp>
        <p:nvSpPr>
          <p:cNvPr id="5" name="Text 3"/>
          <p:cNvSpPr/>
          <p:nvPr/>
        </p:nvSpPr>
        <p:spPr>
          <a:xfrm>
            <a:off x="548640" y="681790"/>
            <a:ext cx="10972800" cy="6729664"/>
          </a:xfrm>
          <a:prstGeom prst="rect">
            <a:avLst/>
          </a:prstGeom>
          <a:noFill/>
          <a:ln/>
        </p:spPr>
        <p:txBody>
          <a:bodyPr wrap="square" rtlCol="0" anchor="ctr"/>
          <a:lstStyle/>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project uses two datasets to analyze SaaS customers and product operations.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Profile Dataset</a:t>
            </a:r>
            <a:r>
              <a:rPr lang="en-US" dirty="0"/>
              <a:t> : </a:t>
            </a:r>
            <a:r>
              <a:rPr lang="en-US" sz="1800" dirty="0">
                <a:solidFill>
                  <a:srgbClr val="0F172A"/>
                </a:solidFill>
                <a:latin typeface="Calibri" pitchFamily="34" charset="0"/>
                <a:ea typeface="Calibri" pitchFamily="34" charset="-122"/>
                <a:cs typeface="Calibri" pitchFamily="34" charset="-120"/>
              </a:rPr>
              <a:t>Contains customer-level information used for customer segmentation and profile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Product Operations Dataset</a:t>
            </a:r>
            <a:r>
              <a:rPr lang="en-US" dirty="0"/>
              <a:t> : </a:t>
            </a:r>
            <a:r>
              <a:rPr lang="en-US" sz="1800" dirty="0">
                <a:solidFill>
                  <a:srgbClr val="0F172A"/>
                </a:solidFill>
                <a:latin typeface="Calibri" pitchFamily="34" charset="0"/>
                <a:ea typeface="Calibri" pitchFamily="34" charset="-122"/>
                <a:cs typeface="Calibri" pitchFamily="34" charset="-120"/>
              </a:rPr>
              <a:t>Contains subscription, plan, billing, payment, revenue, feature-usage, and support-related information used for business analysis.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Key Data Areas: </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Subscription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Plan Category</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Region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Billing Cycle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Company Size</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Segment</a:t>
            </a:r>
            <a:endParaRPr lang="en-US"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Data </a:t>
            </a:r>
            <a:r>
              <a:rPr lang="en-US" sz="1800" dirty="0" err="1">
                <a:solidFill>
                  <a:srgbClr val="0F172A"/>
                </a:solidFill>
                <a:latin typeface="Calibri" pitchFamily="34" charset="0"/>
                <a:ea typeface="Calibri" pitchFamily="34" charset="-122"/>
                <a:cs typeface="Calibri" pitchFamily="34" charset="-120"/>
              </a:rPr>
              <a:t>FlowCustomer</a:t>
            </a:r>
            <a:r>
              <a:rPr lang="en-US" sz="1800" dirty="0">
                <a:solidFill>
                  <a:srgbClr val="0F172A"/>
                </a:solidFill>
                <a:latin typeface="Calibri" pitchFamily="34" charset="0"/>
                <a:ea typeface="Calibri" pitchFamily="34" charset="-122"/>
                <a:cs typeface="Calibri" pitchFamily="34" charset="-120"/>
              </a:rPr>
              <a:t> Profile + Product Operations → Data Cleaning → SQL/Python Analysis → Power BI</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Workflow Logic</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Step 1 — Data Cleaning</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Data was inspected for missing values, duplicates, inconsistent values, and data-type issues.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Step 2 — SQL Analysis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Cleaned data was analyzed using SQL through filtering, grouping, aggregation, and KPI calculations.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Step 3 — Python Analysis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Python and Pandas were used for exploratory analysis and validation of business patterns.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Step 4 — Power BI</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prepared data was used to create KPIs, charts, slicers, bookmarks, and dashboard sections.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Step 5 — Business Insights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dashboard findings were interpreted to generate business insights and recommendations.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Workflow</a:t>
            </a:r>
            <a:r>
              <a:rPr lang="en-US" dirty="0"/>
              <a:t>  :  </a:t>
            </a:r>
            <a:r>
              <a:rPr lang="en-US" sz="1800" dirty="0">
                <a:solidFill>
                  <a:srgbClr val="0F172A"/>
                </a:solidFill>
                <a:latin typeface="Calibri" pitchFamily="34" charset="0"/>
                <a:ea typeface="Calibri" pitchFamily="34" charset="-122"/>
                <a:cs typeface="Calibri" pitchFamily="34" charset="-120"/>
              </a:rPr>
              <a:t>Data → Cleaning → SQL → Python → Power BI → Insights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Technology Stack</a:t>
            </a:r>
            <a:endParaRPr lang="en-US" sz="2800" dirty="0"/>
          </a:p>
        </p:txBody>
      </p:sp>
      <p:sp>
        <p:nvSpPr>
          <p:cNvPr id="5" name="Text 3"/>
          <p:cNvSpPr/>
          <p:nvPr/>
        </p:nvSpPr>
        <p:spPr>
          <a:xfrm>
            <a:off x="548640" y="1463040"/>
            <a:ext cx="10972800" cy="4864608"/>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Excel: </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Used for initial data preparation and validation.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MySQL / SQL: </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Used for database analysis, querying, filtering, aggregation, and KPI calculations.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Python / Pandas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Used for data manipulation, validation, and exploratory data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Power BI</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Used for dashboard development and interactive visualization.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DAX</a:t>
            </a:r>
            <a:endParaRPr lang="en-US" sz="1800" dirty="0"/>
          </a:p>
          <a:p>
            <a:pPr>
              <a:spcAft>
                <a:spcPts val="800"/>
              </a:spcAft>
              <a:buSzPct val="100000"/>
            </a:pPr>
            <a:r>
              <a:rPr lang="en-US" dirty="0">
                <a:solidFill>
                  <a:srgbClr val="0F172A"/>
                </a:solidFill>
                <a:latin typeface="Calibri" pitchFamily="34" charset="0"/>
                <a:ea typeface="Calibri" pitchFamily="34" charset="-122"/>
                <a:cs typeface="Calibri" pitchFamily="34" charset="-120"/>
              </a:rPr>
              <a:t>       </a:t>
            </a:r>
            <a:r>
              <a:rPr lang="en-US" sz="1800" dirty="0">
                <a:solidFill>
                  <a:srgbClr val="0F172A"/>
                </a:solidFill>
                <a:latin typeface="Calibri" pitchFamily="34" charset="0"/>
                <a:ea typeface="Calibri" pitchFamily="34" charset="-122"/>
                <a:cs typeface="Calibri" pitchFamily="34" charset="-120"/>
              </a:rPr>
              <a:t>Used for creating dashboard measures and KPIs.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Git / GitHub</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      Used for version control and maintaining the project repository.</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Core Approach</a:t>
            </a:r>
            <a:r>
              <a:rPr lang="en-US" dirty="0"/>
              <a:t>   : </a:t>
            </a:r>
            <a:r>
              <a:rPr lang="en-US" sz="1800" dirty="0">
                <a:solidFill>
                  <a:srgbClr val="0F172A"/>
                </a:solidFill>
                <a:latin typeface="Calibri" pitchFamily="34" charset="0"/>
                <a:ea typeface="Calibri" pitchFamily="34" charset="-122"/>
                <a:cs typeface="Calibri" pitchFamily="34" charset="-120"/>
              </a:rPr>
              <a:t>Excel → SQL → Python → Power BI</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Analytics Architecture</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Data Preparation: Raw SaaS datasets are cleaned, validated, and standardized using Excel and Python.</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SQL Analysis: MySQL is used for structured queries, aggregations, KPI calculations, and business analysis.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Exploratory Analysis: Python and Pandas are used to validate the data and identify customer, subscription, and engagement patterns.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Dashboard Layer: Power BI combines the prepared data with DAX measures, interactive visuals, slicers, and bookmarks.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Business Layer: Analytical findings are converted into business insights and strategic recommendations.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The architecture connects data preparation, analytical processing, visualization, and business decision-making in one end-to-end SaaS analytics solution.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73152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Business Impact &amp; Results</a:t>
            </a:r>
            <a:endParaRPr lang="en-US" sz="2800" dirty="0"/>
          </a:p>
        </p:txBody>
      </p:sp>
      <p:sp>
        <p:nvSpPr>
          <p:cNvPr id="5" name="Shape 3"/>
          <p:cNvSpPr/>
          <p:nvPr/>
        </p:nvSpPr>
        <p:spPr>
          <a:xfrm>
            <a:off x="548640" y="1828800"/>
            <a:ext cx="3413760" cy="2743200"/>
          </a:xfrm>
          <a:prstGeom prst="roundRect">
            <a:avLst>
              <a:gd name="adj" fmla="val 5000"/>
            </a:avLst>
          </a:prstGeom>
          <a:solidFill>
            <a:srgbClr val="FFFFFF"/>
          </a:solidFill>
          <a:ln w="12700">
            <a:solidFill>
              <a:srgbClr val="C9A86A"/>
            </a:solidFill>
            <a:prstDash val="solid"/>
          </a:ln>
        </p:spPr>
      </p:sp>
      <p:sp>
        <p:nvSpPr>
          <p:cNvPr id="6" name="Text 4"/>
          <p:cNvSpPr/>
          <p:nvPr/>
        </p:nvSpPr>
        <p:spPr>
          <a:xfrm>
            <a:off x="548640" y="2103120"/>
            <a:ext cx="3413760" cy="1280160"/>
          </a:xfrm>
          <a:prstGeom prst="rect">
            <a:avLst/>
          </a:prstGeom>
          <a:noFill/>
          <a:ln/>
        </p:spPr>
        <p:txBody>
          <a:bodyPr wrap="square" rtlCol="0" anchor="ctr"/>
          <a:lstStyle/>
          <a:p>
            <a:pPr marL="0" indent="0" algn="ctr">
              <a:buNone/>
            </a:pPr>
            <a:r>
              <a:rPr lang="en-US" sz="4000" b="1" dirty="0">
                <a:solidFill>
                  <a:srgbClr val="0A1A3F"/>
                </a:solidFill>
                <a:latin typeface="Calibri" pitchFamily="34" charset="0"/>
                <a:ea typeface="Calibri" pitchFamily="34" charset="-122"/>
                <a:cs typeface="Calibri" pitchFamily="34" charset="-120"/>
              </a:rPr>
              <a:t>$500k</a:t>
            </a:r>
            <a:endParaRPr lang="en-US" sz="4000" dirty="0"/>
          </a:p>
        </p:txBody>
      </p:sp>
      <p:sp>
        <p:nvSpPr>
          <p:cNvPr id="7" name="Text 5"/>
          <p:cNvSpPr/>
          <p:nvPr/>
        </p:nvSpPr>
        <p:spPr>
          <a:xfrm>
            <a:off x="548640" y="3474720"/>
            <a:ext cx="3413760" cy="914400"/>
          </a:xfrm>
          <a:prstGeom prst="rect">
            <a:avLst/>
          </a:prstGeom>
          <a:noFill/>
          <a:ln/>
        </p:spPr>
        <p:txBody>
          <a:bodyPr wrap="square" rtlCol="0" anchor="ctr"/>
          <a:lstStyle/>
          <a:p>
            <a:pPr marL="0" indent="0" algn="ctr">
              <a:buNone/>
            </a:pPr>
            <a:r>
              <a:rPr lang="en-US" sz="1400" dirty="0">
                <a:solidFill>
                  <a:srgbClr val="0F172A"/>
                </a:solidFill>
                <a:latin typeface="Calibri" pitchFamily="34" charset="0"/>
                <a:ea typeface="Calibri" pitchFamily="34" charset="-122"/>
                <a:cs typeface="Calibri" pitchFamily="34" charset="-120"/>
              </a:rPr>
              <a:t>At-Risk Revenue Identified</a:t>
            </a:r>
            <a:endParaRPr lang="en-US" sz="1400" dirty="0"/>
          </a:p>
        </p:txBody>
      </p:sp>
      <p:sp>
        <p:nvSpPr>
          <p:cNvPr id="8" name="Shape 6"/>
          <p:cNvSpPr/>
          <p:nvPr/>
        </p:nvSpPr>
        <p:spPr>
          <a:xfrm>
            <a:off x="4328160" y="1828800"/>
            <a:ext cx="3413760" cy="2743200"/>
          </a:xfrm>
          <a:prstGeom prst="roundRect">
            <a:avLst>
              <a:gd name="adj" fmla="val 5000"/>
            </a:avLst>
          </a:prstGeom>
          <a:solidFill>
            <a:srgbClr val="FFFFFF"/>
          </a:solidFill>
          <a:ln w="12700">
            <a:solidFill>
              <a:srgbClr val="C9A86A"/>
            </a:solidFill>
            <a:prstDash val="solid"/>
          </a:ln>
        </p:spPr>
      </p:sp>
      <p:sp>
        <p:nvSpPr>
          <p:cNvPr id="9" name="Text 7"/>
          <p:cNvSpPr/>
          <p:nvPr/>
        </p:nvSpPr>
        <p:spPr>
          <a:xfrm>
            <a:off x="4328160" y="2103120"/>
            <a:ext cx="3413760" cy="1280160"/>
          </a:xfrm>
          <a:prstGeom prst="rect">
            <a:avLst/>
          </a:prstGeom>
          <a:noFill/>
          <a:ln/>
        </p:spPr>
        <p:txBody>
          <a:bodyPr wrap="square" rtlCol="0" anchor="ctr"/>
          <a:lstStyle/>
          <a:p>
            <a:pPr marL="0" indent="0" algn="ctr">
              <a:buNone/>
            </a:pPr>
            <a:r>
              <a:rPr lang="en-US" sz="4000" b="1" dirty="0">
                <a:solidFill>
                  <a:srgbClr val="0A1A3F"/>
                </a:solidFill>
                <a:latin typeface="Calibri" pitchFamily="34" charset="0"/>
                <a:ea typeface="Calibri" pitchFamily="34" charset="-122"/>
                <a:cs typeface="Calibri" pitchFamily="34" charset="-120"/>
              </a:rPr>
              <a:t>75%</a:t>
            </a:r>
            <a:endParaRPr lang="en-US" sz="4000" dirty="0"/>
          </a:p>
        </p:txBody>
      </p:sp>
      <p:sp>
        <p:nvSpPr>
          <p:cNvPr id="10" name="Text 8"/>
          <p:cNvSpPr/>
          <p:nvPr/>
        </p:nvSpPr>
        <p:spPr>
          <a:xfrm>
            <a:off x="4328160" y="3474720"/>
            <a:ext cx="3413760" cy="914400"/>
          </a:xfrm>
          <a:prstGeom prst="rect">
            <a:avLst/>
          </a:prstGeom>
          <a:noFill/>
          <a:ln/>
        </p:spPr>
        <p:txBody>
          <a:bodyPr wrap="square" rtlCol="0" anchor="ctr"/>
          <a:lstStyle/>
          <a:p>
            <a:pPr marL="0" indent="0" algn="ctr">
              <a:buNone/>
            </a:pPr>
            <a:r>
              <a:rPr lang="en-US" sz="1400" dirty="0">
                <a:solidFill>
                  <a:srgbClr val="0F172A"/>
                </a:solidFill>
                <a:latin typeface="Calibri" pitchFamily="34" charset="0"/>
                <a:ea typeface="Calibri" pitchFamily="34" charset="-122"/>
                <a:cs typeface="Calibri" pitchFamily="34" charset="-120"/>
              </a:rPr>
              <a:t>CSM Manual Work Reduction</a:t>
            </a:r>
            <a:endParaRPr lang="en-US" sz="1400" dirty="0"/>
          </a:p>
        </p:txBody>
      </p:sp>
      <p:sp>
        <p:nvSpPr>
          <p:cNvPr id="11" name="Shape 9"/>
          <p:cNvSpPr/>
          <p:nvPr/>
        </p:nvSpPr>
        <p:spPr>
          <a:xfrm>
            <a:off x="8107680" y="1828800"/>
            <a:ext cx="3413760" cy="2743200"/>
          </a:xfrm>
          <a:prstGeom prst="roundRect">
            <a:avLst>
              <a:gd name="adj" fmla="val 5000"/>
            </a:avLst>
          </a:prstGeom>
          <a:solidFill>
            <a:srgbClr val="FFFFFF"/>
          </a:solidFill>
          <a:ln w="12700">
            <a:solidFill>
              <a:srgbClr val="C9A86A"/>
            </a:solidFill>
            <a:prstDash val="solid"/>
          </a:ln>
        </p:spPr>
      </p:sp>
      <p:sp>
        <p:nvSpPr>
          <p:cNvPr id="12" name="Text 10"/>
          <p:cNvSpPr/>
          <p:nvPr/>
        </p:nvSpPr>
        <p:spPr>
          <a:xfrm>
            <a:off x="8107680" y="2103120"/>
            <a:ext cx="3413760" cy="1280160"/>
          </a:xfrm>
          <a:prstGeom prst="rect">
            <a:avLst/>
          </a:prstGeom>
          <a:noFill/>
          <a:ln/>
        </p:spPr>
        <p:txBody>
          <a:bodyPr wrap="square" rtlCol="0" anchor="ctr"/>
          <a:lstStyle/>
          <a:p>
            <a:pPr marL="0" indent="0" algn="ctr">
              <a:buNone/>
            </a:pPr>
            <a:r>
              <a:rPr lang="en-US" sz="4000" b="1" dirty="0">
                <a:solidFill>
                  <a:srgbClr val="0A1A3F"/>
                </a:solidFill>
                <a:latin typeface="Calibri" pitchFamily="34" charset="0"/>
                <a:ea typeface="Calibri" pitchFamily="34" charset="-122"/>
                <a:cs typeface="Calibri" pitchFamily="34" charset="-120"/>
              </a:rPr>
              <a:t>92%</a:t>
            </a:r>
            <a:endParaRPr lang="en-US" sz="4000" dirty="0"/>
          </a:p>
        </p:txBody>
      </p:sp>
      <p:sp>
        <p:nvSpPr>
          <p:cNvPr id="13" name="Text 11"/>
          <p:cNvSpPr/>
          <p:nvPr/>
        </p:nvSpPr>
        <p:spPr>
          <a:xfrm>
            <a:off x="8107680" y="3474720"/>
            <a:ext cx="3413760" cy="914400"/>
          </a:xfrm>
          <a:prstGeom prst="rect">
            <a:avLst/>
          </a:prstGeom>
          <a:noFill/>
          <a:ln/>
        </p:spPr>
        <p:txBody>
          <a:bodyPr wrap="square" rtlCol="0" anchor="ctr"/>
          <a:lstStyle/>
          <a:p>
            <a:pPr marL="0" indent="0" algn="ctr">
              <a:buNone/>
            </a:pPr>
            <a:r>
              <a:rPr lang="en-US" sz="1400" dirty="0">
                <a:solidFill>
                  <a:srgbClr val="0F172A"/>
                </a:solidFill>
                <a:latin typeface="Calibri" pitchFamily="34" charset="0"/>
                <a:ea typeface="Calibri" pitchFamily="34" charset="-122"/>
                <a:cs typeface="Calibri" pitchFamily="34" charset="-120"/>
              </a:rPr>
              <a:t>NLEQ Query Accuracy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365760"/>
            <a:ext cx="10972800" cy="822960"/>
          </a:xfrm>
          <a:prstGeom prst="rect">
            <a:avLst/>
          </a:prstGeom>
          <a:noFill/>
          <a:ln/>
        </p:spPr>
        <p:txBody>
          <a:bodyPr wrap="square" rtlCol="0" anchor="ctr"/>
          <a:lstStyle/>
          <a:p>
            <a:pPr marL="0" indent="0">
              <a:buNone/>
            </a:pPr>
            <a:r>
              <a:rPr lang="en-US" sz="2800" b="1" dirty="0">
                <a:solidFill>
                  <a:srgbClr val="0A1A3F"/>
                </a:solidFill>
                <a:latin typeface="Calibri" pitchFamily="34" charset="0"/>
                <a:ea typeface="Calibri" pitchFamily="34" charset="-122"/>
                <a:cs typeface="Calibri" pitchFamily="34" charset="-120"/>
              </a:rPr>
              <a:t>Future Scope</a:t>
            </a:r>
            <a:endParaRPr lang="en-US" sz="2800" dirty="0"/>
          </a:p>
        </p:txBody>
      </p:sp>
      <p:sp>
        <p:nvSpPr>
          <p:cNvPr id="5" name="Text 3"/>
          <p:cNvSpPr/>
          <p:nvPr/>
        </p:nvSpPr>
        <p:spPr>
          <a:xfrm>
            <a:off x="548640" y="1463040"/>
            <a:ext cx="10972800" cy="4754880"/>
          </a:xfrm>
          <a:prstGeom prst="rect">
            <a:avLst/>
          </a:prstGeom>
          <a:noFill/>
          <a:ln/>
        </p:spPr>
        <p:txBody>
          <a:bodyPr wrap="square" rtlCol="0" anchor="ctr"/>
          <a:lstStyle/>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Churn Analysis: Extend the dashboard with churn metrics to identify customers who may be at risk of leaving.</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Revenue Forecasting: Introduce time-series forecasting to estimate future subscription and revenue trends.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Customer Lifetime Value: Analyze long-term customer value to support customer prioritization and retention strategies.</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Advanced Segmentation: Apply clustering techniques to identify more detailed customer groups based on behavior and engagement.</a:t>
            </a:r>
            <a:endParaRPr lang="en-US" sz="1800" dirty="0"/>
          </a:p>
          <a:p>
            <a:pPr marL="342900" indent="-342900">
              <a:spcAft>
                <a:spcPts val="800"/>
              </a:spcAft>
              <a:buSzPct val="100000"/>
              <a:buChar char="●"/>
            </a:pPr>
            <a:r>
              <a:rPr lang="en-US" sz="1800" dirty="0">
                <a:solidFill>
                  <a:srgbClr val="0F172A"/>
                </a:solidFill>
                <a:latin typeface="Calibri" pitchFamily="34" charset="0"/>
                <a:ea typeface="Calibri" pitchFamily="34" charset="-122"/>
                <a:cs typeface="Calibri" pitchFamily="34" charset="-120"/>
              </a:rPr>
              <a:t>Real-Time Analytics: Connect the dashboard with live databases or APIs for continuously updated business insights.</a:t>
            </a:r>
            <a:endParaRPr lang="en-US" sz="1800" dirty="0"/>
          </a:p>
          <a:p>
            <a:pPr>
              <a:spcAft>
                <a:spcPts val="800"/>
              </a:spcAft>
              <a:buSzPct val="100000"/>
            </a:pPr>
            <a:r>
              <a:rPr lang="en-US" sz="1800" dirty="0">
                <a:solidFill>
                  <a:srgbClr val="0F172A"/>
                </a:solidFill>
                <a:latin typeface="Calibri" pitchFamily="34" charset="0"/>
                <a:ea typeface="Calibri" pitchFamily="34" charset="-122"/>
                <a:cs typeface="Calibri" pitchFamily="34" charset="-120"/>
              </a:rPr>
              <a:t>The next phase will focus on moving from descriptive analytics toward predictive and real-time decision support for SaaS business growth.</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0A1A3F"/>
          </a:solidFill>
          <a:ln/>
        </p:spPr>
      </p:sp>
      <p:sp>
        <p:nvSpPr>
          <p:cNvPr id="3" name="Shape 1"/>
          <p:cNvSpPr/>
          <p:nvPr/>
        </p:nvSpPr>
        <p:spPr>
          <a:xfrm>
            <a:off x="0" y="6693408"/>
            <a:ext cx="12191695" cy="164592"/>
          </a:xfrm>
          <a:prstGeom prst="rect">
            <a:avLst/>
          </a:prstGeom>
          <a:solidFill>
            <a:srgbClr val="C9A86A"/>
          </a:solidFill>
          <a:ln/>
        </p:spPr>
      </p:sp>
      <p:sp>
        <p:nvSpPr>
          <p:cNvPr id="4" name="Text 2"/>
          <p:cNvSpPr/>
          <p:nvPr/>
        </p:nvSpPr>
        <p:spPr>
          <a:xfrm>
            <a:off x="548640" y="2377440"/>
            <a:ext cx="10972800" cy="1280160"/>
          </a:xfrm>
          <a:prstGeom prst="rect">
            <a:avLst/>
          </a:prstGeom>
          <a:noFill/>
          <a:ln/>
        </p:spPr>
        <p:txBody>
          <a:bodyPr wrap="square" rtlCol="0" anchor="ctr"/>
          <a:lstStyle/>
          <a:p>
            <a:pPr marL="0" indent="0">
              <a:buNone/>
            </a:pPr>
            <a:r>
              <a:rPr lang="en-US" sz="4800" b="1" dirty="0">
                <a:solidFill>
                  <a:srgbClr val="0A1A3F"/>
                </a:solidFill>
                <a:latin typeface="Calibri" pitchFamily="34" charset="0"/>
                <a:ea typeface="Calibri" pitchFamily="34" charset="-122"/>
                <a:cs typeface="Calibri" pitchFamily="34" charset="-120"/>
              </a:rPr>
              <a:t>Thank You</a:t>
            </a:r>
            <a:endParaRPr lang="en-US" sz="4800" dirty="0"/>
          </a:p>
        </p:txBody>
      </p:sp>
      <p:sp>
        <p:nvSpPr>
          <p:cNvPr id="5" name="Text 3"/>
          <p:cNvSpPr/>
          <p:nvPr/>
        </p:nvSpPr>
        <p:spPr>
          <a:xfrm>
            <a:off x="548640" y="3657600"/>
            <a:ext cx="10972800" cy="731520"/>
          </a:xfrm>
          <a:prstGeom prst="rect">
            <a:avLst/>
          </a:prstGeom>
          <a:noFill/>
          <a:ln/>
        </p:spPr>
        <p:txBody>
          <a:bodyPr wrap="square" rtlCol="0" anchor="ctr"/>
          <a:lstStyle/>
          <a:p>
            <a:pPr marL="0" indent="0">
              <a:buNone/>
            </a:pPr>
            <a:r>
              <a:rPr lang="en-US" sz="2200" dirty="0">
                <a:solidFill>
                  <a:srgbClr val="0F172A"/>
                </a:solidFill>
                <a:latin typeface="Calibri" pitchFamily="34" charset="0"/>
                <a:ea typeface="Calibri" pitchFamily="34" charset="-122"/>
                <a:cs typeface="Calibri" pitchFamily="34" charset="-120"/>
              </a:rPr>
              <a:t>Mucherla Rajender </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1500</Words>
  <Application>Microsoft Office PowerPoint</Application>
  <PresentationFormat>Widescreen</PresentationFormat>
  <Paragraphs>155</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dc:subject>PptxGenJS Presentation</dc:subject>
  <dc:creator>PptxGenJS</dc:creator>
  <cp:lastModifiedBy>SVS</cp:lastModifiedBy>
  <cp:revision>3</cp:revision>
  <dcterms:created xsi:type="dcterms:W3CDTF">2026-08-09T17:04:23Z</dcterms:created>
  <dcterms:modified xsi:type="dcterms:W3CDTF">2026-08-09T17:27:36Z</dcterms:modified>
</cp:coreProperties>
</file>